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4754880" cy="35925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280160"/>
            <a:ext cx="4754880" cy="3592576"/>
          </a:xfrm>
          <a:prstGeom prst="rect">
            <a:avLst/>
          </a:prstGeom>
          <a:noFill/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F3F4F6"/>
                </a:solidFill>
                <a:latin typeface="Arial Black"/>
              </a:rPr>
              <a:t>DATA &amp;</a:t>
            </a:r>
          </a:p>
          <a:p>
            <a:r>
              <a:rPr sz="6600" b="1">
                <a:solidFill>
                  <a:srgbClr val="F59E0B"/>
                </a:solidFill>
                <a:latin typeface="Arial Black"/>
              </a:rPr>
              <a:t>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6400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i="0">
                <a:solidFill>
                  <a:srgbClr val="22D3EE"/>
                </a:solidFill>
                <a:latin typeface="Segoe UI"/>
              </a:rPr>
              <a:t>How machines turn data into knowledge</a:t>
            </a:r>
          </a:p>
          <a:p>
            <a:pPr>
              <a:spcAft>
                <a:spcPts val="800"/>
              </a:spcAft>
            </a:pPr>
            <a:r>
              <a:rPr sz="1800" i="0">
                <a:solidFill>
                  <a:srgbClr val="F3F4F6"/>
                </a:solidFill>
                <a:latin typeface="Segoe UI"/>
              </a:rPr>
              <a:t>English Presentation</a:t>
            </a:r>
          </a:p>
          <a:p>
            <a:pPr>
              <a:spcAft>
                <a:spcPts val="800"/>
              </a:spcAft>
            </a:pPr>
            <a:r>
              <a:rPr sz="1800" i="0">
                <a:solidFill>
                  <a:srgbClr val="F3F4F6"/>
                </a:solidFill>
                <a:latin typeface="Segoe UI"/>
              </a:rPr>
              <a:t>Presented by:  Khaled</a:t>
            </a:r>
          </a:p>
          <a:p>
            <a:pPr>
              <a:spcAft>
                <a:spcPts val="800"/>
              </a:spcAft>
            </a:pPr>
            <a:r>
              <a:rPr sz="1600" i="0">
                <a:solidFill>
                  <a:srgbClr val="9CA3AF"/>
                </a:solidFill>
                <a:latin typeface="Segoe UI"/>
              </a:rPr>
              <a:t>Class: English  •  2026</a:t>
            </a:r>
          </a:p>
          <a:p>
            <a:pPr>
              <a:spcAft>
                <a:spcPts val="800"/>
              </a:spcAft>
            </a:pPr>
            <a:r>
              <a:rPr sz="1600" i="1">
                <a:solidFill>
                  <a:srgbClr val="F59E0B"/>
                </a:solidFill>
                <a:latin typeface="Segoe UI"/>
              </a:rPr>
              <a:t>“Data is the new oil of the digital world.”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01 — THE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What is a Computer?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A computer is an electronic machine that receives, stores, and processes data.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It follows instructions called programs, written by software developers.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Computers work with amazing speed — billions of operations every second.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They never get tired and repeat tasks with perfect accuracy.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Today computers are everywhere: phones, cars, hospitals, and even watches.</a:t>
            </a:r>
          </a:p>
        </p:txBody>
      </p:sp>
      <p:pic>
        <p:nvPicPr>
          <p:cNvPr id="8" name="Picture 7" descr="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02 — THE FUEL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What is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Data means raw facts and figures — numbers, words, images, and sounds.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Alone, raw data has no clear meaning; it is like puzzle pieces on a table.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Computers store all data as binary digits: only zeros and ones (0 and 1).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Every photo, song, and message on your phone is really millions of bits.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Humans create around 400 million terabytes of new data every single day!</a:t>
            </a:r>
          </a:p>
        </p:txBody>
      </p:sp>
      <p:pic>
        <p:nvPicPr>
          <p:cNvPr id="8" name="Picture 7" descr="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03 — THE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Data vs.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Data is the raw input; information is data with meaning and context.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Example: “85, 90, 77” is data — “your average grade is 84” is information.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Computers transform data into information by sorting, counting, and comparing.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Good information helps people make smart decisions in school and business.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This transformation is the real magic and purpose of every computer system.</a:t>
            </a:r>
          </a:p>
        </p:txBody>
      </p:sp>
      <p:pic>
        <p:nvPicPr>
          <p:cNvPr id="8" name="Picture 7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04 — THE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How Computers Process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Step 1 — INPUT: keyboard, mouse, camera, or sensors send data inside.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Step 2 — PROCESSING: the CPU, the “brain”, calculates and makes decisions.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Step 3 — MEMORY: RAM holds the data the computer is working on right now.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Step 4 — OUTPUT: results appear on the screen, speakers, or printer.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This cycle repeats billions of times per second — faster than a blink!</a:t>
            </a:r>
          </a:p>
        </p:txBody>
      </p:sp>
      <p:pic>
        <p:nvPicPr>
          <p:cNvPr id="8" name="Picture 7" descr="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ransition spd="med">
    <p:circl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05 — THE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Where Data Lives: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Hard drives (HDD) store data on spinning magnetic disks — big and cheap.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Solid-state drives (SSD) have no moving parts, so they are much faster.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USB flash drives let us carry gigabytes of data in our pockets.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Cloud storage saves our files on the internet — safe even if we lose the phone.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One terabyte can hold about 250,000 photos or 500 hours of video.</a:t>
            </a:r>
          </a:p>
        </p:txBody>
      </p:sp>
      <p:pic>
        <p:nvPicPr>
          <p:cNvPr id="8" name="Picture 7" descr="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06 — THE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Data in Our Daily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Social media apps study our data to show posts and videos we like.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Maps use live traffic data from millions of phones to find the fastest road.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Banks protect our money using encrypted data and smart security systems.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Doctors use patient data to discover diseases earlier and save lives.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That is why protecting personal data — privacy — is so important today.</a:t>
            </a:r>
          </a:p>
        </p:txBody>
      </p:sp>
      <p:pic>
        <p:nvPicPr>
          <p:cNvPr id="8" name="Picture 7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09 —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Computers are powerful machines, but data is what gives them purpose.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Raw data becomes valuable information through processing.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Storage technology lets humanity keep and share all its knowledge.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Data already shapes our daily lives — from maps to medicine.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The future belongs to those who understand and protect their data. Thank you!</a:t>
            </a:r>
          </a:p>
        </p:txBody>
      </p:sp>
      <p:pic>
        <p:nvPicPr>
          <p:cNvPr id="8" name="Picture 7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07 — THE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The Internet: Data on the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The internet connects billions of computers into one giant network.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Data travels as small packets through cables, Wi-Fi, and satellites.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Every device has an IP address — like a home address for data.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A message can cross the whole world in less than one second.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Undersea cables carry almost 99% of all international data.</a:t>
            </a:r>
          </a:p>
        </p:txBody>
      </p:sp>
      <p:pic>
        <p:nvPicPr>
          <p:cNvPr id="8" name="Picture 7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PART 08 —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59E0B"/>
                </a:solidFill>
                <a:latin typeface="Arial Black"/>
              </a:rPr>
              <a:t>Big Data &amp;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Every day the world creates more than 400 million terabytes of new data.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“Big data” means collections too large for one normal computer to handle.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Artificial intelligence learns patterns by studying millions of examples.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AI already recommends videos, translates languages, and drives cars.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D3EE"/>
                </a:solidFill>
                <a:latin typeface="Segoe UI"/>
              </a:rPr>
              <a:t>▸  </a:t>
            </a:r>
            <a:r>
              <a:rPr sz="1900">
                <a:solidFill>
                  <a:srgbClr val="F3F4F6"/>
                </a:solidFill>
                <a:latin typeface="Segoe UI"/>
              </a:rPr>
              <a:t>The more good data AI receives, the smarter and more useful it becomes.</a:t>
            </a:r>
          </a:p>
        </p:txBody>
      </p:sp>
      <p:pic>
        <p:nvPicPr>
          <p:cNvPr id="8" name="Picture 7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4114800" cy="3108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5240" y="1798800"/>
            <a:ext cx="4174800" cy="3168960"/>
          </a:xfrm>
          <a:prstGeom prst="rect">
            <a:avLst/>
          </a:prstGeom>
          <a:noFill/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CA3A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